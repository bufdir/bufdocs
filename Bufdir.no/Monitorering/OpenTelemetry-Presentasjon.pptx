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77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OpenTelemetry og Monitorering i Bufdir.no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Monitoreringsstrategi</a:t>
            </a:r>
          </a:p>
          <a:p>
            <a:pPr marL="342900" lvl="0" indent="-342900">
              <a:buAutoNum type="arabicPeriod"/>
            </a:pPr>
            <a:r>
              <a:t>Hva er OpenTelemetry?</a:t>
            </a:r>
          </a:p>
          <a:p>
            <a:pPr marL="342900" lvl="0" indent="-342900">
              <a:buAutoNum type="arabicPeriod"/>
            </a:pPr>
            <a:r>
              <a:t>Muligheter for Overvåkning</a:t>
            </a:r>
          </a:p>
          <a:p>
            <a:pPr marL="342900" lvl="0" indent="-342900">
              <a:buAutoNum type="arabicPeriod"/>
            </a:pPr>
            <a:r>
              <a:t>Varsling og Respons</a:t>
            </a:r>
          </a:p>
          <a:p>
            <a:pPr marL="342900" lvl="0" indent="-342900">
              <a:buAutoNum type="arabicPeriod"/>
            </a:pPr>
            <a:r>
              <a:t>Kostnadsbilde</a:t>
            </a:r>
          </a:p>
          <a:p>
            <a:pPr marL="342900" lvl="0" indent="-342900">
              <a:buAutoNum type="arabicPeriod"/>
            </a:pPr>
            <a:r>
              <a:t>Oppsummering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Monitoreringsstrategi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Komplett observabilitet:</a:t>
            </a:r>
          </a:p>
          <a:p>
            <a:pPr lvl="0"/>
            <a:r>
              <a:rPr b="1"/>
              <a:t>Frontend (Nettleser):</a:t>
            </a:r>
            <a:r>
              <a:t> Real User Monitoring (RUM)</a:t>
            </a:r>
          </a:p>
          <a:p>
            <a:pPr lvl="1"/>
            <a:r>
              <a:t>Brukeropplevelse og klient-side feil</a:t>
            </a:r>
          </a:p>
          <a:p>
            <a:pPr lvl="0"/>
            <a:r>
              <a:rPr b="1"/>
              <a:t>Backend (.NET &amp; Node.js):</a:t>
            </a:r>
            <a:r>
              <a:t> OpenTelemetry</a:t>
            </a:r>
          </a:p>
          <a:p>
            <a:pPr lvl="1"/>
            <a:r>
              <a:t>Industristandard, leverandørnøytral</a:t>
            </a:r>
          </a:p>
          <a:p>
            <a:pPr lvl="0"/>
            <a:r>
              <a:rPr b="1"/>
              <a:t>Korrelasjon:</a:t>
            </a:r>
            <a:r>
              <a:t> W3C Trace Context</a:t>
            </a:r>
          </a:p>
          <a:p>
            <a:pPr lvl="1"/>
            <a:r>
              <a:t>Følg requests fra browser til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Hva er OpenTelemetry?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Industristandard for moderne backend-instrumentering</a:t>
            </a:r>
          </a:p>
          <a:p>
            <a:pPr lvl="0"/>
            <a:r>
              <a:t>Åpen standard for innsamling av telemetri</a:t>
            </a:r>
          </a:p>
          <a:p>
            <a:pPr lvl="0"/>
            <a:r>
              <a:t>Leverandørnøytral (ikke låst til én leverandør)</a:t>
            </a:r>
          </a:p>
          <a:p>
            <a:pPr lvl="0"/>
            <a:r>
              <a:t>Omfattende økosystem for databaser, køer, eksterne API-er</a:t>
            </a:r>
          </a:p>
          <a:p>
            <a:pPr lvl="0"/>
            <a:r>
              <a:t>Bedre ytelse på serveren</a:t>
            </a:r>
          </a:p>
          <a:p>
            <a:pPr lvl="0"/>
            <a:r>
              <a:t>Primær anbefaling fra Microsoft for moderne arkitekturer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Fleksibilitet: Velg ditt eget backend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OpenTelemetry støtter mange backends:</a:t>
            </a:r>
          </a:p>
          <a:p>
            <a:pPr lvl="0"/>
            <a:r>
              <a:rPr b="1"/>
              <a:t>Azure Application Insights</a:t>
            </a:r>
            <a:r>
              <a:t> (vårt valg)</a:t>
            </a:r>
          </a:p>
          <a:p>
            <a:pPr lvl="0"/>
            <a:r>
              <a:rPr b="1"/>
              <a:t>Grafana + Loki + Tempo</a:t>
            </a:r>
          </a:p>
          <a:p>
            <a:pPr lvl="0"/>
            <a:r>
              <a:rPr b="1"/>
              <a:t>Prometheus + Jaeger</a:t>
            </a:r>
          </a:p>
          <a:p>
            <a:pPr lvl="0"/>
            <a:r>
              <a:rPr b="1"/>
              <a:t>Datadog</a:t>
            </a:r>
          </a:p>
          <a:p>
            <a:pPr lvl="0"/>
            <a:r>
              <a:rPr b="1"/>
              <a:t>New Relic</a:t>
            </a:r>
          </a:p>
          <a:p>
            <a:pPr lvl="0"/>
            <a:r>
              <a:rPr b="1"/>
              <a:t>Elastic Stack (ELK)</a:t>
            </a:r>
          </a:p>
          <a:p>
            <a:pPr marL="0" lvl="0" indent="0">
              <a:buNone/>
            </a:pPr>
            <a:r>
              <a:rPr b="1"/>
              <a:t>Fordelen:</a:t>
            </a:r>
            <a:r>
              <a:t> Du kan bytte backend senere uten å endre koden!</a:t>
            </a:r>
          </a:p>
        </p:txBody>
      </p:sp>
      <p:pic>
        <p:nvPicPr>
          <p:cNvPr id="5" name="Picture 1" descr="https://opentelemetry.io/docs/collector/img/otel-collector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471864" y="843955"/>
            <a:ext cx="51054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OpenTelemetry Collector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Eksempel: OpenTelemetry Collector kan eksportere til flere backends samtidig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W3C Trace Context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Sømløs korrelasjon på tvers av hele systemet</a:t>
            </a:r>
          </a:p>
          <a:p>
            <a:pPr marL="0" lvl="0" indent="0">
              <a:buNone/>
            </a:pPr>
            <a:r>
              <a:t>En forespørsel kan følges fra: 1. Brukerens første klikk i nettleseren 2. Gjennom alle mikrotjenester 3. Helt ned til den enkelte SQL-spørring 4. Eller eksterne tjenestekall</a:t>
            </a:r>
          </a:p>
          <a:p>
            <a:pPr marL="0" lvl="0" indent="0">
              <a:buNone/>
            </a:pPr>
            <a:r>
              <a:rPr b="1"/>
              <a:t>Resultat:</a:t>
            </a:r>
            <a:r>
              <a:t> Full innsikt i hele request-flyten</a:t>
            </a:r>
          </a:p>
        </p:txBody>
      </p:sp>
      <p:pic>
        <p:nvPicPr>
          <p:cNvPr id="5" name="Picture 1" descr="https://learn.microsoft.com/en-us/azure/azure-monitor/app/media/app-insights-overview/app-insights-overview-blowout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3471864" y="1361085"/>
            <a:ext cx="51054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Application Insights Distributed Tracing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Eksempel: Application Insights bruker W3C Trace Context for å korrelere telemetri på tvers av alle lag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Overvåkningsmuligheter: Frontend (RUM)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Real User Monitoring gir innsikt i:</a:t>
            </a:r>
          </a:p>
          <a:p>
            <a:pPr lvl="0"/>
            <a:r>
              <a:rPr b="1"/>
              <a:t>Faktisk brukeropplevelse</a:t>
            </a:r>
          </a:p>
          <a:p>
            <a:pPr lvl="1"/>
            <a:r>
              <a:t>Lastetider</a:t>
            </a:r>
          </a:p>
          <a:p>
            <a:pPr lvl="1"/>
            <a:r>
              <a:t>Rendering-ytelse (Core Web Vitals)</a:t>
            </a:r>
          </a:p>
          <a:p>
            <a:pPr lvl="1"/>
            <a:r>
              <a:t>Nettverksforsinkelse fra klientens ståsted</a:t>
            </a:r>
          </a:p>
          <a:p>
            <a:pPr lvl="0"/>
            <a:r>
              <a:rPr b="1"/>
              <a:t>Klient-side feil</a:t>
            </a:r>
          </a:p>
          <a:p>
            <a:pPr lvl="1"/>
            <a:r>
              <a:t>JavaScript-unntak</a:t>
            </a:r>
          </a:p>
          <a:p>
            <a:pPr lvl="1"/>
            <a:r>
              <a:t>Feilede API-kall</a:t>
            </a:r>
          </a:p>
          <a:p>
            <a:pPr lvl="0"/>
            <a:r>
              <a:rPr b="1"/>
              <a:t>End-to-end sporing</a:t>
            </a:r>
          </a:p>
          <a:p>
            <a:pPr lvl="1"/>
            <a:r>
              <a:t>Fra klikk til databasespørring</a:t>
            </a:r>
          </a:p>
        </p:txBody>
      </p:sp>
      <p:pic>
        <p:nvPicPr>
          <p:cNvPr id="5" name="Picture 1" descr="https://learn.microsoft.com/en-us/azure/azure-monitor/app/media/usage/user-flows-pan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5788" y="1317818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3575050" y="4210641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Application Insights User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Eksempel: User Flows viser hvordan brukere navigerer gjennom applikasjonen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Overvåkningsmuligheter: Backend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OpenTelemetry i backend gir:</a:t>
            </a:r>
          </a:p>
          <a:p>
            <a:pPr lvl="0"/>
            <a:r>
              <a:rPr b="1"/>
              <a:t>Tekniske metrikker</a:t>
            </a:r>
          </a:p>
          <a:p>
            <a:pPr lvl="1"/>
            <a:r>
              <a:t>CPU, minne, responstider</a:t>
            </a:r>
          </a:p>
          <a:p>
            <a:pPr lvl="1"/>
            <a:r>
              <a:t>Node.js event loop delay</a:t>
            </a:r>
          </a:p>
          <a:p>
            <a:pPr lvl="1"/>
            <a:r>
              <a:t>SQL-responstider</a:t>
            </a:r>
          </a:p>
          <a:p>
            <a:pPr lvl="0"/>
            <a:r>
              <a:rPr b="1"/>
              <a:t>Distribuert sporing (Distributed Tracing)</a:t>
            </a:r>
          </a:p>
          <a:p>
            <a:pPr lvl="1"/>
            <a:r>
              <a:t>Følg requests på tvers av mikrotjenester</a:t>
            </a:r>
          </a:p>
          <a:p>
            <a:pPr lvl="1"/>
            <a:r>
              <a:t>Identifiser flaskehalser</a:t>
            </a:r>
          </a:p>
          <a:p>
            <a:pPr lvl="0"/>
            <a:r>
              <a:rPr b="1"/>
              <a:t>Custom instrumentering</a:t>
            </a:r>
          </a:p>
          <a:p>
            <a:pPr lvl="1"/>
            <a:r>
              <a:t>Tilpasset forretningslogikk</a:t>
            </a:r>
          </a:p>
        </p:txBody>
      </p:sp>
      <p:pic>
        <p:nvPicPr>
          <p:cNvPr id="5" name="Picture 1" descr="https://learn.microsoft.com/en-us/azure/azure-monitor/app/media/live-stream/live-metric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5514" y="1028105"/>
            <a:ext cx="51054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Application Insights Live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Eksempel: Live Metrics viser sanntids backend-ytelse med 1-sekunders latens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Overvåkningsmuligheter: Forretningslogikk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Fang </a:t>
            </a:r>
            <a:r>
              <a:rPr b="1" dirty="0" err="1"/>
              <a:t>opp</a:t>
            </a:r>
            <a:r>
              <a:rPr b="1" dirty="0"/>
              <a:t> </a:t>
            </a:r>
            <a:r>
              <a:rPr b="1" dirty="0" err="1"/>
              <a:t>forretningskritiske</a:t>
            </a:r>
            <a:r>
              <a:rPr b="1" dirty="0"/>
              <a:t> </a:t>
            </a:r>
            <a:r>
              <a:rPr b="1" dirty="0" err="1"/>
              <a:t>hendelser</a:t>
            </a:r>
            <a:endParaRPr b="1" dirty="0"/>
          </a:p>
          <a:p>
            <a:pPr lvl="0"/>
            <a:r>
              <a:rPr b="1" dirty="0"/>
              <a:t>Custom Events</a:t>
            </a:r>
          </a:p>
          <a:p>
            <a:pPr lvl="1"/>
            <a:r>
              <a:rPr dirty="0" err="1"/>
              <a:t>ApplicationSubmitted</a:t>
            </a:r>
            <a:endParaRPr dirty="0"/>
          </a:p>
          <a:p>
            <a:pPr lvl="1"/>
            <a:r>
              <a:rPr dirty="0" err="1"/>
              <a:t>ReportGenerated</a:t>
            </a:r>
            <a:endParaRPr dirty="0"/>
          </a:p>
          <a:p>
            <a:pPr lvl="1"/>
            <a:r>
              <a:rPr dirty="0" err="1"/>
              <a:t>Fullføringsgrad</a:t>
            </a:r>
            <a:r>
              <a:rPr dirty="0"/>
              <a:t> for </a:t>
            </a:r>
            <a:r>
              <a:rPr dirty="0" err="1"/>
              <a:t>søknader</a:t>
            </a:r>
            <a:endParaRPr dirty="0"/>
          </a:p>
          <a:p>
            <a:pPr lvl="0"/>
            <a:r>
              <a:rPr b="1" dirty="0"/>
              <a:t>Custom Exceptions</a:t>
            </a:r>
          </a:p>
          <a:p>
            <a:pPr lvl="1"/>
            <a:r>
              <a:rPr dirty="0" err="1"/>
              <a:t>Forretningsfeil</a:t>
            </a:r>
            <a:r>
              <a:rPr dirty="0"/>
              <a:t> </a:t>
            </a:r>
            <a:r>
              <a:rPr dirty="0" err="1"/>
              <a:t>som</a:t>
            </a:r>
            <a:r>
              <a:rPr dirty="0"/>
              <a:t> </a:t>
            </a:r>
            <a:r>
              <a:rPr dirty="0" err="1"/>
              <a:t>krever</a:t>
            </a:r>
            <a:r>
              <a:rPr dirty="0"/>
              <a:t> </a:t>
            </a:r>
            <a:r>
              <a:rPr dirty="0" err="1"/>
              <a:t>oppfølging</a:t>
            </a:r>
            <a:endParaRPr dirty="0"/>
          </a:p>
          <a:p>
            <a:pPr lvl="1"/>
            <a:r>
              <a:rPr dirty="0"/>
              <a:t>“Bruker </a:t>
            </a:r>
            <a:r>
              <a:rPr dirty="0" err="1"/>
              <a:t>har</a:t>
            </a:r>
            <a:r>
              <a:rPr dirty="0"/>
              <a:t>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tilgang</a:t>
            </a:r>
            <a:r>
              <a:rPr dirty="0"/>
              <a:t> </a:t>
            </a:r>
            <a:r>
              <a:rPr dirty="0" err="1"/>
              <a:t>til</a:t>
            </a:r>
            <a:r>
              <a:rPr dirty="0"/>
              <a:t> </a:t>
            </a:r>
            <a:r>
              <a:rPr dirty="0" err="1"/>
              <a:t>skjema</a:t>
            </a:r>
            <a:r>
              <a:rPr dirty="0"/>
              <a:t>”</a:t>
            </a:r>
          </a:p>
          <a:p>
            <a:pPr lvl="1"/>
            <a:r>
              <a:rPr dirty="0"/>
              <a:t>“</a:t>
            </a:r>
            <a:r>
              <a:rPr dirty="0" err="1"/>
              <a:t>Ugyldig</a:t>
            </a:r>
            <a:r>
              <a:rPr dirty="0"/>
              <a:t> </a:t>
            </a:r>
            <a:r>
              <a:rPr dirty="0" err="1"/>
              <a:t>dataformat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</a:t>
            </a:r>
            <a:r>
              <a:rPr dirty="0" err="1"/>
              <a:t>ekstern</a:t>
            </a:r>
            <a:r>
              <a:rPr dirty="0"/>
              <a:t> part”</a:t>
            </a:r>
          </a:p>
          <a:p>
            <a:pPr marL="0" lvl="0" indent="0">
              <a:buNone/>
            </a:pPr>
            <a:r>
              <a:rPr b="1" dirty="0" err="1"/>
              <a:t>Resultat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Proaktiv</a:t>
            </a:r>
            <a:r>
              <a:rPr dirty="0"/>
              <a:t> </a:t>
            </a:r>
            <a:r>
              <a:rPr dirty="0" err="1"/>
              <a:t>optimalisering</a:t>
            </a:r>
            <a:r>
              <a:rPr dirty="0"/>
              <a:t> </a:t>
            </a:r>
            <a:r>
              <a:rPr dirty="0" err="1"/>
              <a:t>før</a:t>
            </a:r>
            <a:r>
              <a:rPr dirty="0"/>
              <a:t> </a:t>
            </a:r>
            <a:r>
              <a:rPr dirty="0" err="1"/>
              <a:t>flaskehalser</a:t>
            </a:r>
            <a:r>
              <a:rPr dirty="0"/>
              <a:t> </a:t>
            </a:r>
            <a:r>
              <a:rPr dirty="0" err="1"/>
              <a:t>oppstår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Application Map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Visuell oversikt over hele systemet</a:t>
            </a:r>
          </a:p>
          <a:p>
            <a:pPr lvl="0"/>
            <a:r>
              <a:t>Se alle komponenter og deres relasjoner</a:t>
            </a:r>
          </a:p>
          <a:p>
            <a:pPr lvl="0"/>
            <a:r>
              <a:t>Identifiser treghet og feil raskt</a:t>
            </a:r>
          </a:p>
          <a:p>
            <a:pPr lvl="0"/>
            <a:r>
              <a:t>Hver tjeneste har unikt navn (</a:t>
            </a:r>
            <a:r>
              <a:rPr>
                <a:latin typeface="Courier"/>
              </a:rPr>
              <a:t>service.name</a:t>
            </a:r>
            <a:r>
              <a:t>)</a:t>
            </a:r>
          </a:p>
          <a:p>
            <a:pPr lvl="0"/>
            <a:r>
              <a:t>Skiller mellom </a:t>
            </a:r>
            <a:r>
              <a:rPr>
                <a:latin typeface="Courier"/>
              </a:rPr>
              <a:t>.Server</a:t>
            </a:r>
            <a:r>
              <a:t> og </a:t>
            </a:r>
            <a:r>
              <a:rPr>
                <a:latin typeface="Courier"/>
              </a:rPr>
              <a:t>.Browser</a:t>
            </a:r>
          </a:p>
          <a:p>
            <a:pPr marL="0" lvl="0" indent="0">
              <a:buNone/>
            </a:pPr>
            <a:r>
              <a:rPr b="1"/>
              <a:t>Takket være W3C Trace Context og felles Application Insights-ressurs</a:t>
            </a:r>
          </a:p>
        </p:txBody>
      </p:sp>
      <p:pic>
        <p:nvPicPr>
          <p:cNvPr id="5" name="Picture 1" descr="https://learn.microsoft.com/en-us/azure/azure-monitor/app/media/app-insights-overview/app-insights-overvie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54015" y="113665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Application Map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Eksempel: Application Map viser alle komponenter som noder, og HTTP-kall som linjer mellom dem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Varsling: Typer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Azure Monitor Alerts gir proaktiv respons:</a:t>
            </a:r>
          </a:p>
          <a:p>
            <a:pPr marL="342900" lvl="0" indent="-342900">
              <a:buAutoNum type="arabicPeriod"/>
            </a:pPr>
            <a:r>
              <a:rPr b="1"/>
              <a:t>Metric Alerts</a:t>
            </a:r>
          </a:p>
          <a:p>
            <a:pPr lvl="1"/>
            <a:r>
              <a:t>Infrastruktur og ytelse (CPU &gt; 80%, Responstid &gt; 2s)</a:t>
            </a:r>
          </a:p>
          <a:p>
            <a:pPr lvl="1"/>
            <a:r>
              <a:t>Nesten sanntid</a:t>
            </a:r>
          </a:p>
          <a:p>
            <a:pPr marL="342900" lvl="0" indent="-342900">
              <a:buAutoNum type="arabicPeriod"/>
            </a:pPr>
            <a:r>
              <a:rPr b="1"/>
              <a:t>Log Search Alerts</a:t>
            </a:r>
          </a:p>
          <a:p>
            <a:pPr lvl="1"/>
            <a:r>
              <a:t>Feilrater og forretningslogikk</a:t>
            </a:r>
          </a:p>
          <a:p>
            <a:pPr lvl="1"/>
            <a:r>
              <a:t>KQL-spørringer hvert 5. minutt</a:t>
            </a:r>
          </a:p>
          <a:p>
            <a:pPr lvl="1"/>
            <a:r>
              <a:t>Eks: Unntak &gt; 10 de siste 5 minuttene</a:t>
            </a:r>
          </a:p>
          <a:p>
            <a:pPr marL="342900" lvl="0" indent="-342900">
              <a:buAutoNum type="arabicPeriod"/>
            </a:pPr>
            <a:r>
              <a:rPr b="1"/>
              <a:t>Availability Alerts</a:t>
            </a:r>
          </a:p>
          <a:p>
            <a:pPr lvl="1"/>
            <a:r>
              <a:t>Syntetiske tester fra flere steder i verden</a:t>
            </a:r>
          </a:p>
        </p:txBody>
      </p:sp>
      <p:pic>
        <p:nvPicPr>
          <p:cNvPr id="5" name="Picture 1" descr="https://learn.microsoft.com/en-us/azure/azure-monitor/alerts/media/alerts-overview/alert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5514" y="1257300"/>
            <a:ext cx="5105400" cy="281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Azure Monitor Alerts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Eksempel: Hvordan Azure Monitor alerts fungerer - fra overvåking til varsling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Varsling: Action Groups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Hvem skal varsles og hvordan?</a:t>
            </a:r>
          </a:p>
          <a:p>
            <a:pPr lvl="0"/>
            <a:r>
              <a:rPr b="1"/>
              <a:t>Prio 1 (Kritisk)</a:t>
            </a:r>
          </a:p>
          <a:p>
            <a:pPr lvl="1"/>
            <a:r>
              <a:t>Vakttelefon (SMS/Push) + E-post</a:t>
            </a:r>
          </a:p>
          <a:p>
            <a:pPr lvl="1"/>
            <a:r>
              <a:t>Nedetid eller totale systemfeil</a:t>
            </a:r>
          </a:p>
          <a:p>
            <a:pPr lvl="0"/>
            <a:r>
              <a:rPr b="1"/>
              <a:t>Prio 2 (Advarsel)</a:t>
            </a:r>
          </a:p>
          <a:p>
            <a:pPr lvl="1"/>
            <a:r>
              <a:t>Kun e-post</a:t>
            </a:r>
          </a:p>
          <a:p>
            <a:pPr lvl="1"/>
            <a:r>
              <a:t>Ytelsesdegradering</a:t>
            </a:r>
          </a:p>
          <a:p>
            <a:pPr lvl="0"/>
            <a:r>
              <a:rPr b="1"/>
              <a:t>Automation</a:t>
            </a:r>
          </a:p>
          <a:p>
            <a:pPr lvl="1"/>
            <a:r>
              <a:t>Azure Function eller Logic App</a:t>
            </a:r>
          </a:p>
          <a:p>
            <a:pPr lvl="1"/>
            <a:r>
              <a:t>Automatisk gjenoppretting (restart)</a:t>
            </a:r>
          </a:p>
        </p:txBody>
      </p:sp>
      <p:pic>
        <p:nvPicPr>
          <p:cNvPr id="5" name="Picture 1" descr="https://learn.microsoft.com/en-us/azure/azure-monitor/alerts/media/action-groups/action-group-2-notificatio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5514" y="1207053"/>
            <a:ext cx="51054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>
            <a:spLocks noGrp="1"/>
          </p:cNvSpPr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Action Group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i="1"/>
              <a:t>Eksempel: Konfigurasjon av notifikasjoner i en Action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Varsling: Kanaler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 err="1"/>
              <a:t>Hvordan</a:t>
            </a:r>
            <a:r>
              <a:rPr b="1" dirty="0"/>
              <a:t> </a:t>
            </a:r>
            <a:r>
              <a:rPr b="1" dirty="0" err="1"/>
              <a:t>kan</a:t>
            </a:r>
            <a:r>
              <a:rPr b="1" dirty="0"/>
              <a:t> </a:t>
            </a:r>
            <a:r>
              <a:rPr b="1" dirty="0" err="1"/>
              <a:t>varsler</a:t>
            </a:r>
            <a:r>
              <a:rPr b="1" dirty="0"/>
              <a:t> </a:t>
            </a:r>
            <a:r>
              <a:rPr b="1" dirty="0" err="1"/>
              <a:t>mottas</a:t>
            </a:r>
            <a:r>
              <a:rPr b="1" dirty="0"/>
              <a:t>?</a:t>
            </a:r>
          </a:p>
          <a:p>
            <a:pPr lvl="0"/>
            <a:r>
              <a:rPr b="1" dirty="0"/>
              <a:t>E-post</a:t>
            </a:r>
            <a:r>
              <a:rPr dirty="0"/>
              <a:t> - Gratis</a:t>
            </a:r>
          </a:p>
          <a:p>
            <a:pPr lvl="0"/>
            <a:r>
              <a:rPr b="1" dirty="0"/>
              <a:t>SMS</a:t>
            </a:r>
            <a:r>
              <a:rPr dirty="0"/>
              <a:t> - Ca. 0.30 </a:t>
            </a:r>
            <a:r>
              <a:rPr dirty="0" err="1"/>
              <a:t>kr</a:t>
            </a:r>
            <a:r>
              <a:rPr dirty="0"/>
              <a:t> per melding</a:t>
            </a:r>
          </a:p>
          <a:p>
            <a:pPr lvl="0"/>
            <a:r>
              <a:rPr b="1" dirty="0"/>
              <a:t>Push-</a:t>
            </a:r>
            <a:r>
              <a:rPr b="1" dirty="0" err="1"/>
              <a:t>notifikasjoner</a:t>
            </a:r>
            <a:r>
              <a:rPr dirty="0"/>
              <a:t> - Azure Mobile App (gratis)</a:t>
            </a:r>
          </a:p>
          <a:p>
            <a:pPr lvl="0"/>
            <a:r>
              <a:rPr b="1" dirty="0"/>
              <a:t>Microsoft Teams</a:t>
            </a:r>
            <a:r>
              <a:rPr dirty="0"/>
              <a:t> - Webhook </a:t>
            </a:r>
            <a:r>
              <a:rPr dirty="0" err="1"/>
              <a:t>til</a:t>
            </a:r>
            <a:r>
              <a:rPr dirty="0"/>
              <a:t> Teams-</a:t>
            </a:r>
            <a:r>
              <a:rPr dirty="0" err="1"/>
              <a:t>kanal</a:t>
            </a:r>
            <a:r>
              <a:rPr dirty="0"/>
              <a:t> (gratis)</a:t>
            </a:r>
          </a:p>
          <a:p>
            <a:pPr lvl="0"/>
            <a:r>
              <a:rPr b="1" dirty="0"/>
              <a:t>Slack</a:t>
            </a:r>
            <a:r>
              <a:rPr dirty="0"/>
              <a:t> - Webhook </a:t>
            </a:r>
            <a:r>
              <a:rPr dirty="0" err="1"/>
              <a:t>til</a:t>
            </a:r>
            <a:r>
              <a:rPr dirty="0"/>
              <a:t> Slack-</a:t>
            </a:r>
            <a:r>
              <a:rPr dirty="0" err="1"/>
              <a:t>kanal</a:t>
            </a:r>
            <a:r>
              <a:rPr dirty="0"/>
              <a:t> (gratis)</a:t>
            </a:r>
          </a:p>
          <a:p>
            <a:pPr lvl="0"/>
            <a:r>
              <a:rPr b="1" dirty="0"/>
              <a:t>Webhook</a:t>
            </a:r>
            <a:r>
              <a:rPr dirty="0"/>
              <a:t> - </a:t>
            </a:r>
            <a:r>
              <a:rPr dirty="0" err="1"/>
              <a:t>Egendefinert</a:t>
            </a:r>
            <a:r>
              <a:rPr dirty="0"/>
              <a:t> HTTP endpoint (gratis)</a:t>
            </a:r>
          </a:p>
          <a:p>
            <a:pPr lvl="0"/>
            <a:r>
              <a:rPr b="1" dirty="0"/>
              <a:t>Azure Logic App</a:t>
            </a:r>
            <a:r>
              <a:rPr dirty="0"/>
              <a:t> - </a:t>
            </a:r>
            <a:r>
              <a:rPr dirty="0" err="1"/>
              <a:t>Avansert</a:t>
            </a:r>
            <a:r>
              <a:rPr dirty="0"/>
              <a:t> routing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integrasjoner</a:t>
            </a:r>
            <a:endParaRPr dirty="0"/>
          </a:p>
          <a:p>
            <a:pPr lvl="0"/>
            <a:r>
              <a:rPr b="1" dirty="0"/>
              <a:t>ITSM</a:t>
            </a:r>
            <a:r>
              <a:rPr dirty="0"/>
              <a:t> - ServiceNow, BMC Remedy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Varsling: Kostnader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 err="1"/>
              <a:t>Hva</a:t>
            </a:r>
            <a:r>
              <a:rPr b="1" dirty="0"/>
              <a:t> </a:t>
            </a:r>
            <a:r>
              <a:rPr b="1" dirty="0" err="1"/>
              <a:t>koster</a:t>
            </a:r>
            <a:r>
              <a:rPr b="1" dirty="0"/>
              <a:t> </a:t>
            </a:r>
            <a:r>
              <a:rPr b="1" dirty="0" err="1"/>
              <a:t>varsling</a:t>
            </a:r>
            <a:r>
              <a:rPr b="1" dirty="0"/>
              <a:t>?</a:t>
            </a:r>
          </a:p>
          <a:p>
            <a:pPr lvl="0"/>
            <a:r>
              <a:rPr b="1" dirty="0" err="1"/>
              <a:t>Varselsregler</a:t>
            </a:r>
            <a:r>
              <a:rPr b="1" dirty="0"/>
              <a:t>:</a:t>
            </a:r>
          </a:p>
          <a:p>
            <a:pPr lvl="1"/>
            <a:r>
              <a:rPr dirty="0"/>
              <a:t>Metric Alert Rules: Ca. 1 </a:t>
            </a:r>
            <a:r>
              <a:rPr dirty="0" err="1"/>
              <a:t>kr</a:t>
            </a:r>
            <a:r>
              <a:rPr dirty="0"/>
              <a:t> per regel per </a:t>
            </a:r>
            <a:r>
              <a:rPr dirty="0" err="1"/>
              <a:t>måned</a:t>
            </a:r>
            <a:endParaRPr dirty="0"/>
          </a:p>
          <a:p>
            <a:pPr lvl="1"/>
            <a:r>
              <a:rPr dirty="0"/>
              <a:t>Log Search Alerts: Ca. 5 </a:t>
            </a:r>
            <a:r>
              <a:rPr dirty="0" err="1"/>
              <a:t>kr</a:t>
            </a:r>
            <a:r>
              <a:rPr dirty="0"/>
              <a:t> per regel per </a:t>
            </a:r>
            <a:r>
              <a:rPr dirty="0" err="1"/>
              <a:t>måned</a:t>
            </a:r>
            <a:endParaRPr dirty="0"/>
          </a:p>
          <a:p>
            <a:pPr lvl="0"/>
            <a:r>
              <a:rPr b="1" dirty="0" err="1"/>
              <a:t>Notifikasjoner</a:t>
            </a:r>
            <a:r>
              <a:rPr b="1" dirty="0"/>
              <a:t>:</a:t>
            </a:r>
          </a:p>
          <a:p>
            <a:pPr lvl="1"/>
            <a:r>
              <a:rPr dirty="0"/>
              <a:t>E-post: Gratis</a:t>
            </a:r>
          </a:p>
          <a:p>
            <a:pPr lvl="1"/>
            <a:r>
              <a:rPr dirty="0"/>
              <a:t>SMS: Ca. 0.30 </a:t>
            </a:r>
            <a:r>
              <a:rPr dirty="0" err="1"/>
              <a:t>kr</a:t>
            </a:r>
            <a:r>
              <a:rPr dirty="0"/>
              <a:t> per melding</a:t>
            </a:r>
          </a:p>
          <a:p>
            <a:pPr lvl="1"/>
            <a:r>
              <a:rPr dirty="0"/>
              <a:t>Voice call: Ca. 0.80 </a:t>
            </a:r>
            <a:r>
              <a:rPr dirty="0" err="1"/>
              <a:t>kr</a:t>
            </a:r>
            <a:r>
              <a:rPr dirty="0"/>
              <a:t> per </a:t>
            </a:r>
            <a:r>
              <a:rPr dirty="0" err="1"/>
              <a:t>minutt</a:t>
            </a:r>
            <a:endParaRPr dirty="0"/>
          </a:p>
          <a:p>
            <a:pPr lvl="1"/>
            <a:r>
              <a:rPr dirty="0"/>
              <a:t>Push/Teams/Slack/Webhook: Gratis</a:t>
            </a:r>
          </a:p>
          <a:p>
            <a:pPr lvl="0"/>
            <a:r>
              <a:rPr b="1" dirty="0" err="1"/>
              <a:t>Estimat</a:t>
            </a:r>
            <a:r>
              <a:rPr b="1" dirty="0"/>
              <a:t>:</a:t>
            </a:r>
            <a:r>
              <a:rPr dirty="0"/>
              <a:t> 20-100 </a:t>
            </a:r>
            <a:r>
              <a:rPr dirty="0" err="1"/>
              <a:t>kr</a:t>
            </a:r>
            <a:r>
              <a:rPr dirty="0"/>
              <a:t> per </a:t>
            </a:r>
            <a:r>
              <a:rPr dirty="0" err="1"/>
              <a:t>måned</a:t>
            </a:r>
            <a:r>
              <a:rPr dirty="0"/>
              <a:t> for </a:t>
            </a:r>
            <a:r>
              <a:rPr dirty="0" err="1"/>
              <a:t>typisk</a:t>
            </a:r>
            <a:r>
              <a:rPr dirty="0"/>
              <a:t> </a:t>
            </a:r>
            <a:r>
              <a:rPr dirty="0" err="1"/>
              <a:t>oppsett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Varsling: Beste Praksis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Unngå</a:t>
            </a:r>
            <a:r>
              <a:rPr b="1" dirty="0"/>
              <a:t> </a:t>
            </a:r>
            <a:r>
              <a:rPr b="1" dirty="0" err="1"/>
              <a:t>varslingstretthet</a:t>
            </a:r>
            <a:r>
              <a:rPr b="1" dirty="0"/>
              <a:t>:</a:t>
            </a:r>
          </a:p>
          <a:p>
            <a:pPr lvl="0"/>
            <a:r>
              <a:rPr dirty="0"/>
              <a:t>Ikke </a:t>
            </a:r>
            <a:r>
              <a:rPr dirty="0" err="1"/>
              <a:t>varsle</a:t>
            </a:r>
            <a:r>
              <a:rPr dirty="0"/>
              <a:t> </a:t>
            </a:r>
            <a:r>
              <a:rPr dirty="0" err="1"/>
              <a:t>på</a:t>
            </a:r>
            <a:r>
              <a:rPr dirty="0"/>
              <a:t> ting </a:t>
            </a:r>
            <a:r>
              <a:rPr dirty="0" err="1"/>
              <a:t>som</a:t>
            </a:r>
            <a:r>
              <a:rPr dirty="0"/>
              <a:t> </a:t>
            </a:r>
            <a:r>
              <a:rPr dirty="0" err="1"/>
              <a:t>ikke</a:t>
            </a:r>
            <a:r>
              <a:rPr dirty="0"/>
              <a:t> </a:t>
            </a:r>
            <a:r>
              <a:rPr dirty="0" err="1"/>
              <a:t>krever</a:t>
            </a:r>
            <a:r>
              <a:rPr dirty="0"/>
              <a:t> handling</a:t>
            </a:r>
          </a:p>
          <a:p>
            <a:pPr lvl="0"/>
            <a:r>
              <a:rPr dirty="0"/>
              <a:t>Bruk “Suppress Alerts” for </a:t>
            </a:r>
            <a:r>
              <a:rPr dirty="0" err="1"/>
              <a:t>gjentatte</a:t>
            </a:r>
            <a:r>
              <a:rPr dirty="0"/>
              <a:t> </a:t>
            </a:r>
            <a:r>
              <a:rPr dirty="0" err="1"/>
              <a:t>meldinger</a:t>
            </a:r>
            <a:endParaRPr dirty="0"/>
          </a:p>
          <a:p>
            <a:pPr lvl="0"/>
            <a:r>
              <a:rPr dirty="0"/>
              <a:t>Koble </a:t>
            </a:r>
            <a:r>
              <a:rPr dirty="0" err="1"/>
              <a:t>til</a:t>
            </a:r>
            <a:r>
              <a:rPr dirty="0"/>
              <a:t> Runbooks</a:t>
            </a:r>
          </a:p>
          <a:p>
            <a:pPr lvl="1"/>
            <a:r>
              <a:rPr dirty="0"/>
              <a:t>Lenke </a:t>
            </a:r>
            <a:r>
              <a:rPr dirty="0" err="1"/>
              <a:t>til</a:t>
            </a:r>
            <a:r>
              <a:rPr dirty="0"/>
              <a:t> </a:t>
            </a:r>
            <a:r>
              <a:rPr dirty="0" err="1"/>
              <a:t>handlingsplan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hvert</a:t>
            </a:r>
            <a:r>
              <a:rPr dirty="0"/>
              <a:t> </a:t>
            </a:r>
            <a:r>
              <a:rPr dirty="0" err="1"/>
              <a:t>varsel</a:t>
            </a:r>
            <a:endParaRPr dirty="0"/>
          </a:p>
          <a:p>
            <a:pPr lvl="1"/>
            <a:r>
              <a:rPr dirty="0" err="1"/>
              <a:t>Mottageren</a:t>
            </a:r>
            <a:r>
              <a:rPr dirty="0"/>
              <a:t> vet </a:t>
            </a:r>
            <a:r>
              <a:rPr dirty="0" err="1"/>
              <a:t>nøyaktig</a:t>
            </a:r>
            <a:r>
              <a:rPr dirty="0"/>
              <a:t> </a:t>
            </a:r>
            <a:r>
              <a:rPr dirty="0" err="1"/>
              <a:t>hva</a:t>
            </a:r>
            <a:r>
              <a:rPr dirty="0"/>
              <a:t> de </a:t>
            </a:r>
            <a:r>
              <a:rPr dirty="0" err="1"/>
              <a:t>skal</a:t>
            </a:r>
            <a:r>
              <a:rPr dirty="0"/>
              <a:t> </a:t>
            </a:r>
            <a:r>
              <a:rPr dirty="0" err="1"/>
              <a:t>gjøre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Overvåking av Sertifikater og Secrets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 err="1"/>
              <a:t>Unngå</a:t>
            </a:r>
            <a:r>
              <a:rPr b="1" dirty="0"/>
              <a:t> </a:t>
            </a:r>
            <a:r>
              <a:rPr b="1" dirty="0" err="1"/>
              <a:t>uventet</a:t>
            </a:r>
            <a:r>
              <a:rPr b="1" dirty="0"/>
              <a:t> </a:t>
            </a:r>
            <a:r>
              <a:rPr b="1" dirty="0" err="1"/>
              <a:t>nedetid</a:t>
            </a:r>
            <a:endParaRPr b="1" dirty="0"/>
          </a:p>
          <a:p>
            <a:pPr lvl="0"/>
            <a:r>
              <a:rPr b="1" dirty="0"/>
              <a:t>Azure Key Vault </a:t>
            </a:r>
            <a:r>
              <a:rPr b="1" dirty="0" err="1"/>
              <a:t>Overvåking</a:t>
            </a:r>
            <a:endParaRPr b="1" dirty="0"/>
          </a:p>
          <a:p>
            <a:pPr lvl="1"/>
            <a:r>
              <a:rPr dirty="0"/>
              <a:t>Event Grid </a:t>
            </a:r>
            <a:r>
              <a:rPr dirty="0" err="1"/>
              <a:t>varsler</a:t>
            </a:r>
            <a:r>
              <a:rPr dirty="0"/>
              <a:t> </a:t>
            </a:r>
            <a:r>
              <a:rPr dirty="0" err="1"/>
              <a:t>ved</a:t>
            </a:r>
            <a:r>
              <a:rPr dirty="0"/>
              <a:t> </a:t>
            </a:r>
            <a:r>
              <a:rPr dirty="0" err="1"/>
              <a:t>utløp</a:t>
            </a:r>
            <a:endParaRPr dirty="0"/>
          </a:p>
          <a:p>
            <a:pPr lvl="1"/>
            <a:r>
              <a:rPr dirty="0"/>
              <a:t>Log Analytics for alle </a:t>
            </a:r>
            <a:r>
              <a:rPr dirty="0" err="1"/>
              <a:t>aksesser</a:t>
            </a:r>
            <a:endParaRPr dirty="0"/>
          </a:p>
          <a:p>
            <a:pPr lvl="0"/>
            <a:r>
              <a:rPr b="1" dirty="0"/>
              <a:t>SSL/TLS </a:t>
            </a:r>
            <a:r>
              <a:rPr b="1" dirty="0" err="1"/>
              <a:t>Sertifikater</a:t>
            </a:r>
            <a:endParaRPr b="1" dirty="0"/>
          </a:p>
          <a:p>
            <a:pPr lvl="1"/>
            <a:r>
              <a:rPr dirty="0"/>
              <a:t>App Service &amp; Container Apps</a:t>
            </a:r>
          </a:p>
          <a:p>
            <a:pPr lvl="1"/>
            <a:r>
              <a:rPr dirty="0" err="1"/>
              <a:t>Virksomhetssertifikater</a:t>
            </a:r>
            <a:r>
              <a:rPr dirty="0"/>
              <a:t> (</a:t>
            </a:r>
            <a:r>
              <a:rPr dirty="0" err="1"/>
              <a:t>Maskinporten</a:t>
            </a:r>
            <a:r>
              <a:rPr dirty="0"/>
              <a:t>)</a:t>
            </a:r>
          </a:p>
          <a:p>
            <a:pPr lvl="0"/>
            <a:r>
              <a:rPr b="1" dirty="0" err="1"/>
              <a:t>Automatisering</a:t>
            </a:r>
            <a:endParaRPr b="1" dirty="0"/>
          </a:p>
          <a:p>
            <a:pPr lvl="1"/>
            <a:r>
              <a:rPr dirty="0" err="1"/>
              <a:t>IaC</a:t>
            </a:r>
            <a:r>
              <a:rPr dirty="0"/>
              <a:t> (Infrastructure as Code)</a:t>
            </a:r>
          </a:p>
          <a:p>
            <a:pPr lvl="1"/>
            <a:r>
              <a:rPr dirty="0"/>
              <a:t>Azure Policy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Kostnadsbilde: Oversikt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Azure Monitor </a:t>
            </a:r>
            <a:r>
              <a:rPr b="1" dirty="0" err="1"/>
              <a:t>prising</a:t>
            </a:r>
            <a:r>
              <a:rPr b="1" dirty="0"/>
              <a:t> (North Europe)</a:t>
            </a:r>
          </a:p>
          <a:p>
            <a:pPr lvl="0"/>
            <a:r>
              <a:rPr b="1" dirty="0"/>
              <a:t>Log Analytics &amp; Application Insights:</a:t>
            </a:r>
            <a:r>
              <a:rPr dirty="0"/>
              <a:t> Ca. 25-30 </a:t>
            </a:r>
            <a:r>
              <a:rPr dirty="0" err="1"/>
              <a:t>kr</a:t>
            </a:r>
            <a:r>
              <a:rPr dirty="0"/>
              <a:t> per GB</a:t>
            </a:r>
          </a:p>
          <a:p>
            <a:pPr lvl="0"/>
            <a:r>
              <a:rPr b="1" dirty="0" err="1"/>
              <a:t>Datalagring</a:t>
            </a:r>
            <a:r>
              <a:rPr b="1" dirty="0"/>
              <a:t> </a:t>
            </a:r>
            <a:r>
              <a:rPr b="1" dirty="0" err="1"/>
              <a:t>utover</a:t>
            </a:r>
            <a:r>
              <a:rPr b="1" dirty="0"/>
              <a:t> 31 </a:t>
            </a:r>
            <a:r>
              <a:rPr b="1" dirty="0" err="1"/>
              <a:t>dager</a:t>
            </a:r>
            <a:r>
              <a:rPr b="1" dirty="0"/>
              <a:t>:</a:t>
            </a:r>
            <a:r>
              <a:rPr dirty="0"/>
              <a:t> Ca. 1.20 </a:t>
            </a:r>
            <a:r>
              <a:rPr dirty="0" err="1"/>
              <a:t>kr</a:t>
            </a:r>
            <a:r>
              <a:rPr dirty="0"/>
              <a:t> per GB per </a:t>
            </a:r>
            <a:r>
              <a:rPr dirty="0" err="1"/>
              <a:t>måned</a:t>
            </a:r>
            <a:endParaRPr dirty="0"/>
          </a:p>
          <a:p>
            <a:pPr lvl="0"/>
            <a:r>
              <a:rPr b="1" dirty="0"/>
              <a:t>Varsling:</a:t>
            </a:r>
          </a:p>
          <a:p>
            <a:pPr lvl="1"/>
            <a:r>
              <a:rPr dirty="0"/>
              <a:t>Metric Alert Rules: Ca. 1 </a:t>
            </a:r>
            <a:r>
              <a:rPr dirty="0" err="1"/>
              <a:t>kr</a:t>
            </a:r>
            <a:r>
              <a:rPr dirty="0"/>
              <a:t> per regel per </a:t>
            </a:r>
            <a:r>
              <a:rPr dirty="0" err="1"/>
              <a:t>måned</a:t>
            </a:r>
            <a:endParaRPr dirty="0"/>
          </a:p>
          <a:p>
            <a:pPr lvl="1"/>
            <a:r>
              <a:rPr dirty="0"/>
              <a:t>Log Search Alerts: Ca. 5 </a:t>
            </a:r>
            <a:r>
              <a:rPr dirty="0" err="1"/>
              <a:t>kr</a:t>
            </a:r>
            <a:r>
              <a:rPr dirty="0"/>
              <a:t> per regel per </a:t>
            </a:r>
            <a:r>
              <a:rPr dirty="0" err="1"/>
              <a:t>måned</a:t>
            </a:r>
            <a:endParaRPr dirty="0"/>
          </a:p>
          <a:p>
            <a:pPr lvl="1"/>
            <a:r>
              <a:rPr dirty="0"/>
              <a:t>SMS: Ca. 0.30 </a:t>
            </a:r>
            <a:r>
              <a:rPr dirty="0" err="1"/>
              <a:t>kr</a:t>
            </a:r>
            <a:r>
              <a:rPr dirty="0"/>
              <a:t> per </a:t>
            </a:r>
            <a:r>
              <a:rPr dirty="0" err="1"/>
              <a:t>stykk</a:t>
            </a:r>
            <a:r>
              <a:rPr dirty="0"/>
              <a:t> (E-post gratis)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Kostnadsbilde: Estimat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639" y="1013432"/>
            <a:ext cx="3008313" cy="2246603"/>
          </a:xfrm>
        </p:spPr>
        <p:txBody>
          <a:bodyPr/>
          <a:lstStyle/>
          <a:p>
            <a:pPr marL="0" lvl="0" indent="0">
              <a:buNone/>
            </a:pPr>
            <a:r>
              <a:rPr b="1"/>
              <a:t>Forventet kostnad for Bufdir.no (7 moduler: portal + 5-6 API-er)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514527"/>
              </p:ext>
            </p:extLst>
          </p:nvPr>
        </p:nvGraphicFramePr>
        <p:xfrm>
          <a:off x="2264686" y="1788172"/>
          <a:ext cx="508000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Kategori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Lavt estimat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Høyt </a:t>
                      </a:r>
                      <a:r>
                        <a:rPr dirty="0" err="1"/>
                        <a:t>estimat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Ved Daily Cap (5GB/dag)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Datainnsamling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250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1 200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4 500 kr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Lagring (90 dager)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360 kr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Varsling &amp; Tester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250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250 kr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Sum per måned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350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1 550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5 110 </a:t>
                      </a:r>
                      <a:r>
                        <a:rPr b="1" dirty="0" err="1"/>
                        <a:t>kr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Kostnadsstyring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 err="1"/>
              <a:t>Slik</a:t>
            </a:r>
            <a:r>
              <a:rPr b="1" dirty="0"/>
              <a:t> holder du </a:t>
            </a:r>
            <a:r>
              <a:rPr b="1" dirty="0" err="1"/>
              <a:t>kostnadene</a:t>
            </a:r>
            <a:r>
              <a:rPr b="1" dirty="0"/>
              <a:t> </a:t>
            </a:r>
            <a:r>
              <a:rPr b="1" dirty="0" err="1"/>
              <a:t>nede</a:t>
            </a:r>
            <a:r>
              <a:rPr b="1" dirty="0"/>
              <a:t>:</a:t>
            </a:r>
          </a:p>
          <a:p>
            <a:pPr lvl="0"/>
            <a:r>
              <a:rPr b="1" dirty="0"/>
              <a:t>Juster logging level</a:t>
            </a:r>
          </a:p>
          <a:p>
            <a:pPr lvl="1"/>
            <a:r>
              <a:rPr dirty="0" err="1"/>
              <a:t>Unngå</a:t>
            </a:r>
            <a:r>
              <a:rPr dirty="0"/>
              <a:t> logging av all SQL-</a:t>
            </a:r>
            <a:r>
              <a:rPr dirty="0" err="1"/>
              <a:t>tekst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produksjon</a:t>
            </a:r>
            <a:endParaRPr dirty="0"/>
          </a:p>
          <a:p>
            <a:pPr lvl="1"/>
            <a:r>
              <a:rPr dirty="0" err="1"/>
              <a:t>Detaljert</a:t>
            </a:r>
            <a:r>
              <a:rPr dirty="0"/>
              <a:t> logging </a:t>
            </a:r>
            <a:r>
              <a:rPr dirty="0" err="1"/>
              <a:t>kun</a:t>
            </a:r>
            <a:r>
              <a:rPr dirty="0"/>
              <a:t> </a:t>
            </a:r>
            <a:r>
              <a:rPr dirty="0" err="1"/>
              <a:t>ved</a:t>
            </a:r>
            <a:r>
              <a:rPr dirty="0"/>
              <a:t> debugging</a:t>
            </a:r>
          </a:p>
          <a:p>
            <a:pPr lvl="0"/>
            <a:r>
              <a:rPr b="1" dirty="0"/>
              <a:t>Daily Cap</a:t>
            </a:r>
          </a:p>
          <a:p>
            <a:pPr lvl="1"/>
            <a:r>
              <a:rPr dirty="0"/>
              <a:t>Sett </a:t>
            </a:r>
            <a:r>
              <a:rPr dirty="0" err="1"/>
              <a:t>maksimumsgrense</a:t>
            </a:r>
            <a:r>
              <a:rPr dirty="0"/>
              <a:t> (</a:t>
            </a:r>
            <a:r>
              <a:rPr dirty="0" err="1"/>
              <a:t>f.eks</a:t>
            </a:r>
            <a:r>
              <a:rPr dirty="0"/>
              <a:t>. 5GB/</a:t>
            </a:r>
            <a:r>
              <a:rPr dirty="0" err="1"/>
              <a:t>dag</a:t>
            </a:r>
            <a:r>
              <a:rPr dirty="0"/>
              <a:t>)</a:t>
            </a:r>
          </a:p>
          <a:p>
            <a:pPr lvl="1"/>
            <a:r>
              <a:rPr dirty="0" err="1"/>
              <a:t>Forutsigbar</a:t>
            </a:r>
            <a:r>
              <a:rPr dirty="0"/>
              <a:t> </a:t>
            </a:r>
            <a:r>
              <a:rPr dirty="0" err="1"/>
              <a:t>kostnad</a:t>
            </a:r>
            <a:endParaRPr dirty="0"/>
          </a:p>
          <a:p>
            <a:pPr lvl="0"/>
            <a:r>
              <a:rPr b="1" dirty="0"/>
              <a:t>Retention policy</a:t>
            </a:r>
          </a:p>
          <a:p>
            <a:pPr lvl="1"/>
            <a:r>
              <a:rPr dirty="0"/>
              <a:t>31 </a:t>
            </a:r>
            <a:r>
              <a:rPr dirty="0" err="1"/>
              <a:t>dager</a:t>
            </a:r>
            <a:r>
              <a:rPr dirty="0"/>
              <a:t> gratis</a:t>
            </a:r>
          </a:p>
          <a:p>
            <a:pPr lvl="1"/>
            <a:r>
              <a:rPr dirty="0"/>
              <a:t>90 </a:t>
            </a:r>
            <a:r>
              <a:rPr dirty="0" err="1"/>
              <a:t>dager</a:t>
            </a:r>
            <a:r>
              <a:rPr dirty="0"/>
              <a:t> </a:t>
            </a:r>
            <a:r>
              <a:rPr dirty="0" err="1"/>
              <a:t>anbefalt</a:t>
            </a:r>
            <a:r>
              <a:rPr dirty="0"/>
              <a:t> (marginal </a:t>
            </a:r>
            <a:r>
              <a:rPr dirty="0" err="1"/>
              <a:t>merkostnad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Strategisk Verdi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Fra “</a:t>
            </a:r>
            <a:r>
              <a:rPr b="1" dirty="0" err="1"/>
              <a:t>kjører</a:t>
            </a:r>
            <a:r>
              <a:rPr b="1" dirty="0"/>
              <a:t> </a:t>
            </a:r>
            <a:r>
              <a:rPr b="1" dirty="0" err="1"/>
              <a:t>systemet</a:t>
            </a:r>
            <a:r>
              <a:rPr b="1" dirty="0"/>
              <a:t>?” </a:t>
            </a:r>
            <a:r>
              <a:rPr b="1" dirty="0" err="1"/>
              <a:t>til</a:t>
            </a:r>
            <a:r>
              <a:rPr b="1" dirty="0"/>
              <a:t> “</a:t>
            </a:r>
            <a:r>
              <a:rPr b="1" dirty="0" err="1"/>
              <a:t>fungerer</a:t>
            </a:r>
            <a:r>
              <a:rPr b="1" dirty="0"/>
              <a:t> </a:t>
            </a:r>
            <a:r>
              <a:rPr b="1" dirty="0" err="1"/>
              <a:t>forretningen</a:t>
            </a:r>
            <a:r>
              <a:rPr b="1" dirty="0"/>
              <a:t> </a:t>
            </a:r>
            <a:r>
              <a:rPr b="1" dirty="0" err="1"/>
              <a:t>optimalt</a:t>
            </a:r>
            <a:r>
              <a:rPr b="1" dirty="0"/>
              <a:t>?”</a:t>
            </a:r>
          </a:p>
          <a:p>
            <a:pPr lvl="0"/>
            <a:r>
              <a:rPr b="1" dirty="0" err="1"/>
              <a:t>Sammenhengende</a:t>
            </a:r>
            <a:r>
              <a:rPr b="1" dirty="0"/>
              <a:t> </a:t>
            </a:r>
            <a:r>
              <a:rPr b="1" dirty="0" err="1"/>
              <a:t>feilsøking</a:t>
            </a:r>
            <a:endParaRPr b="1" dirty="0"/>
          </a:p>
          <a:p>
            <a:pPr lvl="1"/>
            <a:r>
              <a:rPr dirty="0"/>
              <a:t>Fra </a:t>
            </a:r>
            <a:r>
              <a:rPr dirty="0" err="1"/>
              <a:t>treghet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browser </a:t>
            </a:r>
            <a:r>
              <a:rPr dirty="0" err="1"/>
              <a:t>til</a:t>
            </a:r>
            <a:r>
              <a:rPr dirty="0"/>
              <a:t> SQL-</a:t>
            </a:r>
            <a:r>
              <a:rPr dirty="0" err="1"/>
              <a:t>spørring</a:t>
            </a:r>
            <a:endParaRPr dirty="0"/>
          </a:p>
          <a:p>
            <a:pPr lvl="0"/>
            <a:r>
              <a:rPr b="1" dirty="0" err="1"/>
              <a:t>Proaktiv</a:t>
            </a:r>
            <a:r>
              <a:rPr b="1" dirty="0"/>
              <a:t> </a:t>
            </a:r>
            <a:r>
              <a:rPr b="1" dirty="0" err="1"/>
              <a:t>optimalisering</a:t>
            </a:r>
            <a:endParaRPr b="1" dirty="0"/>
          </a:p>
          <a:p>
            <a:pPr lvl="1"/>
            <a:r>
              <a:rPr dirty="0"/>
              <a:t>Cache hit rate, query complexity</a:t>
            </a:r>
          </a:p>
          <a:p>
            <a:pPr lvl="1"/>
            <a:r>
              <a:rPr dirty="0" err="1"/>
              <a:t>Optimaliser</a:t>
            </a:r>
            <a:r>
              <a:rPr dirty="0"/>
              <a:t> </a:t>
            </a:r>
            <a:r>
              <a:rPr dirty="0" err="1"/>
              <a:t>før</a:t>
            </a:r>
            <a:r>
              <a:rPr dirty="0"/>
              <a:t> </a:t>
            </a:r>
            <a:r>
              <a:rPr dirty="0" err="1"/>
              <a:t>flaskehalser</a:t>
            </a:r>
            <a:r>
              <a:rPr dirty="0"/>
              <a:t> </a:t>
            </a:r>
            <a:r>
              <a:rPr dirty="0" err="1"/>
              <a:t>oppstår</a:t>
            </a:r>
            <a:endParaRPr dirty="0"/>
          </a:p>
          <a:p>
            <a:pPr lvl="0"/>
            <a:r>
              <a:rPr b="1" dirty="0" err="1"/>
              <a:t>Forretningsinnsikt</a:t>
            </a:r>
            <a:endParaRPr b="1" dirty="0"/>
          </a:p>
          <a:p>
            <a:pPr lvl="1"/>
            <a:r>
              <a:rPr dirty="0" err="1"/>
              <a:t>Identifiser</a:t>
            </a:r>
            <a:r>
              <a:rPr dirty="0"/>
              <a:t> </a:t>
            </a:r>
            <a:r>
              <a:rPr dirty="0" err="1"/>
              <a:t>hvor</a:t>
            </a:r>
            <a:r>
              <a:rPr dirty="0"/>
              <a:t> </a:t>
            </a:r>
            <a:r>
              <a:rPr dirty="0" err="1"/>
              <a:t>brukere</a:t>
            </a:r>
            <a:r>
              <a:rPr dirty="0"/>
              <a:t> faller </a:t>
            </a:r>
            <a:r>
              <a:rPr dirty="0" err="1"/>
              <a:t>fra</a:t>
            </a:r>
            <a:endParaRPr dirty="0"/>
          </a:p>
          <a:p>
            <a:pPr lvl="1"/>
            <a:r>
              <a:rPr dirty="0"/>
              <a:t>Ingen </a:t>
            </a:r>
            <a:r>
              <a:rPr dirty="0" err="1"/>
              <a:t>komplekse</a:t>
            </a:r>
            <a:r>
              <a:rPr dirty="0"/>
              <a:t> </a:t>
            </a:r>
            <a:r>
              <a:rPr dirty="0" err="1"/>
              <a:t>analyseverktøy</a:t>
            </a:r>
            <a:r>
              <a:rPr dirty="0"/>
              <a:t> </a:t>
            </a:r>
            <a:r>
              <a:rPr dirty="0" err="1"/>
              <a:t>nødvendig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Oppsummering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 err="1"/>
              <a:t>OpenTelemetry</a:t>
            </a:r>
            <a:r>
              <a:rPr b="1" dirty="0"/>
              <a:t> + Azure Application Insights = </a:t>
            </a:r>
            <a:r>
              <a:rPr b="1" dirty="0" err="1"/>
              <a:t>Komplett</a:t>
            </a:r>
            <a:r>
              <a:rPr b="1" dirty="0"/>
              <a:t> </a:t>
            </a:r>
            <a:r>
              <a:rPr b="1" dirty="0" err="1"/>
              <a:t>observabilitet</a:t>
            </a:r>
            <a:endParaRPr b="1" dirty="0"/>
          </a:p>
          <a:p>
            <a:pPr marL="0" lvl="0" indent="0">
              <a:buNone/>
            </a:pPr>
            <a:r>
              <a:rPr dirty="0"/>
              <a:t>✓ </a:t>
            </a:r>
            <a:r>
              <a:rPr dirty="0" err="1"/>
              <a:t>Industristandard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leverandørnøytral</a:t>
            </a:r>
            <a:r>
              <a:rPr dirty="0"/>
              <a:t> </a:t>
            </a:r>
            <a:endParaRPr lang="nb-NO" dirty="0"/>
          </a:p>
          <a:p>
            <a:pPr marL="0" lvl="0" indent="0">
              <a:buNone/>
            </a:pPr>
            <a:r>
              <a:rPr dirty="0"/>
              <a:t>✓ Full </a:t>
            </a:r>
            <a:r>
              <a:rPr dirty="0" err="1"/>
              <a:t>korrelasjon</a:t>
            </a:r>
            <a:r>
              <a:rPr dirty="0"/>
              <a:t> </a:t>
            </a:r>
            <a:r>
              <a:rPr dirty="0" err="1"/>
              <a:t>fra</a:t>
            </a:r>
            <a:r>
              <a:rPr dirty="0"/>
              <a:t> browser </a:t>
            </a:r>
            <a:r>
              <a:rPr dirty="0" err="1"/>
              <a:t>til</a:t>
            </a:r>
            <a:r>
              <a:rPr dirty="0"/>
              <a:t> database </a:t>
            </a:r>
            <a:endParaRPr lang="nb-NO" dirty="0"/>
          </a:p>
          <a:p>
            <a:pPr marL="0" lvl="0" indent="0">
              <a:buNone/>
            </a:pPr>
            <a:r>
              <a:rPr dirty="0"/>
              <a:t>✓ </a:t>
            </a:r>
            <a:r>
              <a:rPr dirty="0" err="1"/>
              <a:t>Proaktiv</a:t>
            </a:r>
            <a:r>
              <a:rPr dirty="0"/>
              <a:t> </a:t>
            </a:r>
            <a:r>
              <a:rPr dirty="0" err="1"/>
              <a:t>varsling</a:t>
            </a:r>
            <a:r>
              <a:rPr dirty="0"/>
              <a:t> med Action Groups </a:t>
            </a:r>
            <a:endParaRPr lang="nb-NO" dirty="0"/>
          </a:p>
          <a:p>
            <a:pPr marL="0" lvl="0" indent="0">
              <a:buNone/>
            </a:pPr>
            <a:r>
              <a:rPr dirty="0"/>
              <a:t>✓ </a:t>
            </a:r>
            <a:r>
              <a:rPr dirty="0" err="1"/>
              <a:t>Overvåking</a:t>
            </a:r>
            <a:r>
              <a:rPr dirty="0"/>
              <a:t> av </a:t>
            </a:r>
            <a:r>
              <a:rPr dirty="0" err="1"/>
              <a:t>sertifikater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secrets </a:t>
            </a:r>
            <a:endParaRPr lang="nb-NO" dirty="0"/>
          </a:p>
          <a:p>
            <a:pPr marL="0" lvl="0" indent="0">
              <a:buNone/>
            </a:pPr>
            <a:r>
              <a:rPr dirty="0"/>
              <a:t>✓ </a:t>
            </a:r>
            <a:r>
              <a:rPr dirty="0" err="1"/>
              <a:t>Forutsigbare</a:t>
            </a:r>
            <a:r>
              <a:rPr dirty="0"/>
              <a:t> </a:t>
            </a:r>
            <a:r>
              <a:rPr dirty="0" err="1"/>
              <a:t>kostnader</a:t>
            </a:r>
            <a:r>
              <a:rPr dirty="0"/>
              <a:t> (350-1550 </a:t>
            </a:r>
            <a:r>
              <a:rPr dirty="0" err="1"/>
              <a:t>kr</a:t>
            </a:r>
            <a:r>
              <a:rPr dirty="0"/>
              <a:t>/</a:t>
            </a:r>
            <a:r>
              <a:rPr dirty="0" err="1"/>
              <a:t>mnd</a:t>
            </a:r>
            <a:r>
              <a:rPr dirty="0"/>
              <a:t>) </a:t>
            </a:r>
            <a:endParaRPr lang="nb-NO" dirty="0"/>
          </a:p>
          <a:p>
            <a:pPr marL="0" lvl="0" indent="0">
              <a:buNone/>
            </a:pPr>
            <a:r>
              <a:rPr dirty="0"/>
              <a:t>✓ </a:t>
            </a:r>
            <a:r>
              <a:rPr dirty="0" err="1"/>
              <a:t>Skalerbar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fremtidsrettet</a:t>
            </a:r>
            <a:endParaRPr dirty="0"/>
          </a:p>
          <a:p>
            <a:pPr marL="0" lvl="0" indent="0">
              <a:buNone/>
            </a:pPr>
            <a:r>
              <a:rPr b="1" dirty="0" err="1"/>
              <a:t>Resultat</a:t>
            </a:r>
            <a:r>
              <a:rPr b="1" dirty="0"/>
              <a:t>:</a:t>
            </a:r>
            <a:r>
              <a:rPr dirty="0"/>
              <a:t> Optimal </a:t>
            </a:r>
            <a:r>
              <a:rPr dirty="0" err="1"/>
              <a:t>brukeropplevelse</a:t>
            </a:r>
            <a:r>
              <a:rPr dirty="0"/>
              <a:t> </a:t>
            </a:r>
            <a:r>
              <a:rPr dirty="0" err="1"/>
              <a:t>og</a:t>
            </a:r>
            <a:r>
              <a:rPr dirty="0"/>
              <a:t> </a:t>
            </a:r>
            <a:r>
              <a:rPr dirty="0" err="1"/>
              <a:t>driftssikkerhet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Spørsmål?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Macintosh PowerPoint</Application>
  <PresentationFormat>On-screen Show (16:9)</PresentationFormat>
  <Paragraphs>212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</vt:lpstr>
      <vt:lpstr>Office Theme</vt:lpstr>
      <vt:lpstr>OpenTelemetry og Monitorering i Bufdir.no</vt:lpstr>
      <vt:lpstr>Agenda</vt:lpstr>
      <vt:lpstr>Monitoreringsstrategi</vt:lpstr>
      <vt:lpstr>Hva er OpenTelemetry?</vt:lpstr>
      <vt:lpstr>Fleksibilitet: Velg ditt eget backend</vt:lpstr>
      <vt:lpstr>W3C Trace Context</vt:lpstr>
      <vt:lpstr>Overvåkningsmuligheter: Frontend (RUM)</vt:lpstr>
      <vt:lpstr>Overvåkningsmuligheter: Backend</vt:lpstr>
      <vt:lpstr>Overvåkningsmuligheter: Forretningslogikk</vt:lpstr>
      <vt:lpstr>Application Map</vt:lpstr>
      <vt:lpstr>Varsling: Typer</vt:lpstr>
      <vt:lpstr>Varsling: Action Groups</vt:lpstr>
      <vt:lpstr>Varsling: Kanaler</vt:lpstr>
      <vt:lpstr>Varsling: Kostnader</vt:lpstr>
      <vt:lpstr>Varsling: Beste Praksis</vt:lpstr>
      <vt:lpstr>Overvåking av Sertifikater og Secrets</vt:lpstr>
      <vt:lpstr>Kostnadsbilde: Oversikt</vt:lpstr>
      <vt:lpstr>Kostnadsbilde: Estimat</vt:lpstr>
      <vt:lpstr>Kostnadsstyring</vt:lpstr>
      <vt:lpstr>Strategisk Verdi</vt:lpstr>
      <vt:lpstr>Oppsummering</vt:lpstr>
      <vt:lpstr>Spørsmål?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Rafal Andrzej Godlewski</cp:lastModifiedBy>
  <cp:revision>1</cp:revision>
  <dcterms:created xsi:type="dcterms:W3CDTF">2026-02-03T20:36:34Z</dcterms:created>
  <dcterms:modified xsi:type="dcterms:W3CDTF">2026-02-03T20:40:53Z</dcterms:modified>
</cp:coreProperties>
</file>